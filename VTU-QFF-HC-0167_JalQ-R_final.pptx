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Quantum shots</c:v>
          </c:tx>
          <c:spPr>
            <a:solidFill>
              <a:srgbClr val="6041AD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A394D4"/>
              </a:solidFill>
            </c:spPr>
            <c:extLst>
              <c:ext xmlns:c16="http://schemas.microsoft.com/office/drawing/2014/chart" uri="{C3380CC4-5D6E-409C-BE32-E72D297353CC}">
                <c16:uniqueId val="{00000001-1F44-4189-BE52-CA9B8BE35C3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F44-4189-BE52-CA9B8BE35C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30205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Always-run QAOA</c:v>
                </c:pt>
                <c:pt idx="1">
                  <c:v>Selective QAOA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14592</c:v>
                </c:pt>
                <c:pt idx="1">
                  <c:v>4992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44-4189-BE52-CA9B8BE35C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975">
                <a:solidFill>
                  <a:srgbClr val="30205F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00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0F0FF"/>
        </a:solidFill>
      </c:spPr>
    </c:plotArea>
    <c:plotVisOnly val="1"/>
    <c:dispBlanksAs val="zero"/>
    <c:showDLblsOverMax val="1"/>
  </c:chart>
  <c:spPr>
    <a:solidFill>
      <a:srgbClr val="F0F0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JalQ-R, Quantum_coderz, VTU-QFF-HC-0167. Sources: https://github.com/vtu-qiskit-fall-fest-2026/vtu-hc-quantum-coderz/tree/6c72022 ; results/hybrid_field/aggregate_summary.csv ; docs/HYBRID_DESIGN.md. 65.8% compares selective with always-run QAOA only. Classical-only achieves the same observed result. Live demo: https://jalq-r-605775397403.asia-south1.run.app/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92DFF7-9E36-418F-8B27-B6BA5BD03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6B25C8-EA00-486F-9E38-7933E6071434}"/>
              </a:ext>
            </a:extLst>
          </p:cNvPr>
          <p:cNvSpPr>
            <a:spLocks noGrp="1"/>
          </p:cNvSpPr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C71DEC-B2C8-4AC2-A870-A6EDB4E0D836}"/>
              </a:ext>
            </a:extLst>
          </p:cNvPr>
          <p:cNvSpPr>
            <a:spLocks noGrp="1"/>
          </p:cNvSpPr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7781AEA-AFBD-4B82-8F00-25DCF3533C8C}"/>
              </a:ext>
            </a:extLst>
          </p:cNvPr>
          <p:cNvSpPr>
            <a:spLocks noGrp="1"/>
          </p:cNvSpPr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014C94E8-80F0-42FD-B647-5F154165F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D5AA9EFD-0A24-4975-9BE4-0A50B032D668}"/>
              </a:ext>
            </a:extLst>
          </p:cNvPr>
          <p:cNvSpPr>
            <a:spLocks noGrp="1"/>
          </p:cNvSpPr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950" b="1">
                <a:solidFill>
                  <a:srgbClr val="2E1B5B"/>
                </a:solidFill>
                <a:latin typeface="Nirmala UI"/>
                <a:ea typeface="Nirmala UI"/>
                <a:cs typeface="Nirmala UI"/>
              </a:rPr>
              <a:t>ವಿಶ್ವೇಶ್ವರಯ್ಯ ತಾಂತ್ರಿಕ ವಿಶ್ವವಿದ್ಯಾಲಯ, ಬೆಳಗಾವಿ</a:t>
            </a:r>
            <a:endParaRPr sz="9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81E0025-B8FA-4555-A547-167B78A99F22}"/>
              </a:ext>
            </a:extLst>
          </p:cNvPr>
          <p:cNvSpPr>
            <a:spLocks noGrp="1"/>
          </p:cNvSpPr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 b="1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Visvesvaraya Technological University, Belagavi</a:t>
            </a:r>
            <a:endParaRPr sz="950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D3C64D28-BB24-4C7A-A13F-AA4CEB4D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39ED5A58-606D-460B-A353-8793B95AE46C}"/>
              </a:ext>
            </a:extLst>
          </p:cNvPr>
          <p:cNvSpPr>
            <a:spLocks noGrp="1"/>
          </p:cNvSpPr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 spc="200">
                <a:solidFill>
                  <a:srgbClr val="2E1B5B"/>
                </a:solidFill>
              </a:rPr>
              <a:t>QISKIT FALL FEST 2026</a:t>
            </a:r>
            <a:endParaRPr sz="11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F826429-FC22-4ACC-B3E3-73F83D69CD77}"/>
              </a:ext>
            </a:extLst>
          </p:cNvPr>
          <p:cNvSpPr>
            <a:spLocks noGrp="1"/>
          </p:cNvSpPr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 spc="100">
                <a:solidFill>
                  <a:srgbClr val="5B3BA8"/>
                </a:solidFill>
              </a:rPr>
              <a:t>IBM Quantum</a:t>
            </a:r>
            <a:endParaRPr sz="950"/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1DF5BCD7-A576-421C-877B-0C08464A9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D4C0CD79-8785-4237-95B4-E6E251BEEC77}"/>
              </a:ext>
            </a:extLst>
          </p:cNvPr>
          <p:cNvSpPr>
            <a:spLocks noGrp="1"/>
          </p:cNvSpPr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EE1C901-38A4-4A34-B1ED-0CCA5790AC9D}"/>
              </a:ext>
            </a:extLst>
          </p:cNvPr>
          <p:cNvSpPr>
            <a:spLocks noGrp="1"/>
          </p:cNvSpPr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9207EB4-0EE3-48E6-B3F7-23BB8B44C34C}"/>
              </a:ext>
            </a:extLst>
          </p:cNvPr>
          <p:cNvSpPr>
            <a:spLocks noGrp="1"/>
          </p:cNvSpPr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D6D59CB-B1EE-4864-9973-EFC33FFE4C6A}"/>
              </a:ext>
            </a:extLst>
          </p:cNvPr>
          <p:cNvSpPr>
            <a:spLocks noGrp="1"/>
          </p:cNvSpPr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C7E3BB6-351C-46FA-8564-A3405F724F29}"/>
              </a:ext>
            </a:extLst>
          </p:cNvPr>
          <p:cNvSpPr>
            <a:spLocks noGrp="1"/>
          </p:cNvSpPr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200">
                <a:solidFill>
                  <a:srgbClr val="2E1B5B"/>
                </a:solidFill>
              </a:rPr>
              <a:t>QISKIT FALL FEST 2026  ·  HOSTED BY VTU, BELAGAVI</a:t>
            </a:r>
            <a:endParaRPr sz="85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779DC52-8CEA-49BF-A523-EB3D9146C9A3}"/>
              </a:ext>
            </a:extLst>
          </p:cNvPr>
          <p:cNvSpPr>
            <a:spLocks noGrp="1"/>
          </p:cNvSpPr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 spc="200">
                <a:solidFill>
                  <a:srgbClr val="5B3BA8"/>
                </a:solidFill>
              </a:rPr>
              <a:t>27 – 31 OCT 2026</a:t>
            </a:r>
            <a:endParaRPr sz="8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CD3755-F0FE-48F5-9E1E-8A7FF006A8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28F6CC8-391F-4E99-A431-884FC4BDEEAB}"/>
              </a:ext>
            </a:extLst>
          </p:cNvPr>
          <p:cNvSpPr>
            <a:spLocks noGrp="1"/>
          </p:cNvSpPr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CDAADF-4DC8-4585-BABB-B7667655294F}"/>
              </a:ext>
            </a:extLst>
          </p:cNvPr>
          <p:cNvSpPr>
            <a:spLocks noGrp="1"/>
          </p:cNvSpPr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5F4CF8-C57B-47CE-91D6-DD4F9373ED65}"/>
              </a:ext>
            </a:extLst>
          </p:cNvPr>
          <p:cNvSpPr>
            <a:spLocks noGrp="1"/>
          </p:cNvSpPr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CB875EFB-2A70-4960-8F17-EEE2EA37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A33B0AE5-D610-484F-837D-8A9C2DA13473}"/>
              </a:ext>
            </a:extLst>
          </p:cNvPr>
          <p:cNvSpPr>
            <a:spLocks noGrp="1"/>
          </p:cNvSpPr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sz="950" b="1">
                <a:solidFill>
                  <a:srgbClr val="2E1B5B"/>
                </a:solidFill>
                <a:latin typeface="Nirmala UI"/>
                <a:ea typeface="Nirmala UI"/>
                <a:cs typeface="Nirmala UI"/>
              </a:rPr>
              <a:t>ವಿಶ್ವೇಶ್ವರಯ್ಯ ತಾಂತ್ರಿಕ ವಿಶ್ವವಿದ್ಯಾಲಯ, ಬೆಳಗಾವಿ</a:t>
            </a:r>
            <a:endParaRPr sz="9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915FE53-407A-4D56-8062-120F32720A7A}"/>
              </a:ext>
            </a:extLst>
          </p:cNvPr>
          <p:cNvSpPr>
            <a:spLocks noGrp="1"/>
          </p:cNvSpPr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950" b="1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Visvesvaraya Technological University, Belagavi</a:t>
            </a:r>
            <a:endParaRPr sz="950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F7BBDEA3-9CE0-48CD-A8F6-AC642D3F9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6D409414-2A6F-4522-8BB1-9392EA42FB90}"/>
              </a:ext>
            </a:extLst>
          </p:cNvPr>
          <p:cNvSpPr>
            <a:spLocks noGrp="1"/>
          </p:cNvSpPr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100" b="1" spc="200">
                <a:solidFill>
                  <a:srgbClr val="2E1B5B"/>
                </a:solidFill>
              </a:rPr>
              <a:t>QISKIT FALL FEST 2026</a:t>
            </a:r>
            <a:endParaRPr sz="11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1284E8D-9E34-4C37-9337-9D25ABBFC3B4}"/>
              </a:ext>
            </a:extLst>
          </p:cNvPr>
          <p:cNvSpPr>
            <a:spLocks noGrp="1"/>
          </p:cNvSpPr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b="1" spc="100">
                <a:solidFill>
                  <a:srgbClr val="5B3BA8"/>
                </a:solidFill>
              </a:rPr>
              <a:t>IBM Quantum</a:t>
            </a:r>
            <a:endParaRPr sz="950"/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CB5512B9-ACCA-461A-A8B8-D11EB74AA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3A841010-1FAB-43BC-BD89-7FE725FABCAF}"/>
              </a:ext>
            </a:extLst>
          </p:cNvPr>
          <p:cNvSpPr>
            <a:spLocks noGrp="1"/>
          </p:cNvSpPr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DB56C34-4AC2-4AD3-948A-B31962031D04}"/>
              </a:ext>
            </a:extLst>
          </p:cNvPr>
          <p:cNvSpPr>
            <a:spLocks noGrp="1"/>
          </p:cNvSpPr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884439A7-E092-484D-9F31-B00A6E7B5B52}"/>
              </a:ext>
            </a:extLst>
          </p:cNvPr>
          <p:cNvSpPr>
            <a:spLocks noGrp="1"/>
          </p:cNvSpPr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747B821-91D0-4FDD-8909-20D849750ECD}"/>
              </a:ext>
            </a:extLst>
          </p:cNvPr>
          <p:cNvSpPr>
            <a:spLocks noGrp="1"/>
          </p:cNvSpPr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E5BD83C9-0403-440C-BE47-5E69C96CE598}"/>
              </a:ext>
            </a:extLst>
          </p:cNvPr>
          <p:cNvSpPr>
            <a:spLocks noGrp="1"/>
          </p:cNvSpPr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200">
                <a:solidFill>
                  <a:srgbClr val="2E1B5B"/>
                </a:solidFill>
              </a:rPr>
              <a:t>QISKIT FALL FEST 2026  ·  HOSTED BY VTU, BELAGAVI</a:t>
            </a:r>
            <a:endParaRPr sz="85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6212963-237E-4618-B979-770A6762AACD}"/>
              </a:ext>
            </a:extLst>
          </p:cNvPr>
          <p:cNvSpPr>
            <a:spLocks noGrp="1"/>
          </p:cNvSpPr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50" b="1" spc="200">
                <a:solidFill>
                  <a:srgbClr val="5B3BA8"/>
                </a:solidFill>
              </a:rPr>
              <a:t>27 – 31 OCT 2026</a:t>
            </a:r>
            <a:endParaRPr sz="850"/>
          </a:p>
        </p:txBody>
      </p:sp>
      <p:pic>
        <p:nvPicPr>
          <p:cNvPr id="19" name="Image 3">
            <a:extLst>
              <a:ext uri="{FF2B5EF4-FFF2-40B4-BE49-F238E27FC236}">
                <a16:creationId xmlns:a16="http://schemas.microsoft.com/office/drawing/2014/main" id="{25E5530A-E4B2-4FC9-9362-8AEA998F5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>
            <a:extLst>
              <a:ext uri="{FF2B5EF4-FFF2-40B4-BE49-F238E27FC236}">
                <a16:creationId xmlns:a16="http://schemas.microsoft.com/office/drawing/2014/main" id="{64C70334-587E-41C3-8462-65CB9C8B1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>
            <a:extLst>
              <a:ext uri="{FF2B5EF4-FFF2-40B4-BE49-F238E27FC236}">
                <a16:creationId xmlns:a16="http://schemas.microsoft.com/office/drawing/2014/main" id="{73856D24-FF40-40FC-B743-0551132872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8166027B-126B-43DD-B85D-8636C9B8AE0B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600" b="1">
                <a:solidFill>
                  <a:srgbClr val="2E1B5B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indent="0" algn="l">
              <a:buNone/>
            </a:pPr>
            <a:endParaRPr sz="26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80983F8-8C53-49A5-A5D9-021AD680A31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76308FD-EAF8-48A6-8144-F6E1C221FBE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2EA09D-D77B-4510-9E82-AD6CCED5FA75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 spc="300">
                <a:solidFill>
                  <a:srgbClr val="E8639F"/>
                </a:solidFill>
                <a:latin typeface="Calibri"/>
                <a:ea typeface="Calibri"/>
                <a:cs typeface="Calibri"/>
              </a:rPr>
              <a:t>PARTICIPANT PRESENTATION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7D1EA5-7956-428F-9784-31F5CB8CF82D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8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Qiskit</a:t>
            </a:r>
            <a:endParaRPr sz="3800"/>
          </a:p>
          <a:p>
            <a:pPr marL="0" indent="0">
              <a:buNone/>
            </a:pPr>
            <a:r>
              <a:rPr sz="3800" b="1">
                <a:solidFill>
                  <a:srgbClr val="E8639F"/>
                </a:solidFill>
                <a:latin typeface="Georgia"/>
                <a:ea typeface="Georgia"/>
                <a:cs typeface="Georgia"/>
              </a:rPr>
              <a:t>Fall Fest</a:t>
            </a:r>
            <a:endParaRPr sz="3800"/>
          </a:p>
          <a:p>
            <a:pPr marL="0" indent="0">
              <a:buNone/>
            </a:pPr>
            <a:r>
              <a:rPr sz="38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2026</a:t>
            </a:r>
            <a:endParaRPr sz="3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A541AD-3BB2-4B68-88B1-A6448E4055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4A4380"/>
                </a:solidFill>
                <a:latin typeface="Calibri"/>
                <a:ea typeface="Calibri"/>
                <a:cs typeface="Calibri"/>
              </a:rPr>
              <a:t>Hackathon · Team Details</a:t>
            </a:r>
            <a:endParaRPr sz="1300"/>
          </a:p>
        </p:txBody>
      </p:sp>
      <p:pic>
        <p:nvPicPr>
          <p:cNvPr id="5" name="Bloch sphere ring">
            <a:extLst>
              <a:ext uri="{FF2B5EF4-FFF2-40B4-BE49-F238E27FC236}">
                <a16:creationId xmlns:a16="http://schemas.microsoft.com/office/drawing/2014/main" id="{A36F2B9E-B6D6-42AA-9D30-3C30C77BA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3EB0544F-B4F6-411F-B0FE-735B8AB78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>
            <a:extLst>
              <a:ext uri="{FF2B5EF4-FFF2-40B4-BE49-F238E27FC236}">
                <a16:creationId xmlns:a16="http://schemas.microsoft.com/office/drawing/2014/main" id="{EE734504-FFCB-4A5D-8306-45D414620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>
            <a:extLst>
              <a:ext uri="{FF2B5EF4-FFF2-40B4-BE49-F238E27FC236}">
                <a16:creationId xmlns:a16="http://schemas.microsoft.com/office/drawing/2014/main" id="{F496FA20-BB4C-4B0D-A5C9-D23D5AC48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F83033D1-996C-48EA-8267-E22297488873}"/>
              </a:ext>
            </a:extLst>
          </p:cNvPr>
          <p:cNvSpPr>
            <a:spLocks noGrp="1"/>
          </p:cNvSpPr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Participant Details</a:t>
            </a:r>
            <a:endParaRPr sz="1600"/>
          </a:p>
        </p:txBody>
      </p:sp>
      <p:sp>
        <p:nvSpPr>
          <p:cNvPr id="10" name="Field: PROJECT TITLE">
            <a:extLst>
              <a:ext uri="{FF2B5EF4-FFF2-40B4-BE49-F238E27FC236}">
                <a16:creationId xmlns:a16="http://schemas.microsoft.com/office/drawing/2014/main" id="{ACAA5302-E556-4EAB-A052-75DB3FEF5CC7}"/>
              </a:ext>
            </a:extLst>
          </p:cNvPr>
          <p:cNvSpPr>
            <a:spLocks noGrp="1"/>
          </p:cNvSpPr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 i="0">
                <a:solidFill>
                  <a:srgbClr val="30205F"/>
                </a:solidFill>
              </a:defRPr>
            </a:defPPr>
            <a:lvl1pPr>
              <a:buNone/>
              <a:defRPr sz="1200" i="0">
                <a:solidFill>
                  <a:srgbClr val="30205F"/>
                </a:solidFill>
              </a:defRPr>
            </a:lvl1pPr>
            <a:lvl2pPr>
              <a:buNone/>
              <a:defRPr sz="1200" i="0">
                <a:solidFill>
                  <a:srgbClr val="30205F"/>
                </a:solidFill>
              </a:defRPr>
            </a:lvl2pPr>
            <a:lvl3pPr>
              <a:buNone/>
              <a:defRPr sz="1200" i="0">
                <a:solidFill>
                  <a:srgbClr val="30205F"/>
                </a:solidFill>
              </a:defRPr>
            </a:lvl3pPr>
            <a:lvl4pPr>
              <a:buNone/>
              <a:defRPr sz="1200" i="0">
                <a:solidFill>
                  <a:srgbClr val="30205F"/>
                </a:solidFill>
              </a:defRPr>
            </a:lvl4pPr>
            <a:lvl5pPr>
              <a:buNone/>
              <a:defRPr sz="1200" i="0">
                <a:solidFill>
                  <a:srgbClr val="30205F"/>
                </a:solidFill>
              </a:defRPr>
            </a:lvl5pPr>
            <a:lvl6pPr>
              <a:buNone/>
              <a:defRPr sz="1200" i="0">
                <a:solidFill>
                  <a:srgbClr val="30205F"/>
                </a:solidFill>
              </a:defRPr>
            </a:lvl6pPr>
            <a:lvl7pPr>
              <a:buNone/>
              <a:defRPr sz="1200" i="0">
                <a:solidFill>
                  <a:srgbClr val="30205F"/>
                </a:solidFill>
              </a:defRPr>
            </a:lvl7pPr>
            <a:lvl8pPr>
              <a:buNone/>
              <a:defRPr sz="1200" i="0">
                <a:solidFill>
                  <a:srgbClr val="30205F"/>
                </a:solidFill>
              </a:defRPr>
            </a:lvl8pPr>
            <a:lvl9pPr>
              <a:buNone/>
              <a:defRPr sz="1200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PROJECT TITLE</a:t>
            </a:r>
            <a:endParaRPr sz="900"/>
          </a:p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JalQ-R: Selective Quantum Replanning</a:t>
            </a:r>
            <a:endParaRPr sz="900"/>
          </a:p>
        </p:txBody>
      </p:sp>
      <p:sp>
        <p:nvSpPr>
          <p:cNvPr id="11" name="Field: TRACK">
            <a:extLst>
              <a:ext uri="{FF2B5EF4-FFF2-40B4-BE49-F238E27FC236}">
                <a16:creationId xmlns:a16="http://schemas.microsoft.com/office/drawing/2014/main" id="{32DBFA39-1944-43E6-B839-8AE3EC8AD377}"/>
              </a:ext>
            </a:extLst>
          </p:cNvPr>
          <p:cNvSpPr>
            <a:spLocks noGrp="1"/>
          </p:cNvSpPr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 i="0">
                <a:solidFill>
                  <a:srgbClr val="30205F"/>
                </a:solidFill>
              </a:defRPr>
            </a:defPPr>
            <a:lvl1pPr>
              <a:buNone/>
              <a:defRPr sz="1200" i="0">
                <a:solidFill>
                  <a:srgbClr val="30205F"/>
                </a:solidFill>
              </a:defRPr>
            </a:lvl1pPr>
            <a:lvl2pPr>
              <a:buNone/>
              <a:defRPr sz="1200" i="0">
                <a:solidFill>
                  <a:srgbClr val="30205F"/>
                </a:solidFill>
              </a:defRPr>
            </a:lvl2pPr>
            <a:lvl3pPr>
              <a:buNone/>
              <a:defRPr sz="1200" i="0">
                <a:solidFill>
                  <a:srgbClr val="30205F"/>
                </a:solidFill>
              </a:defRPr>
            </a:lvl3pPr>
            <a:lvl4pPr>
              <a:buNone/>
              <a:defRPr sz="1200" i="0">
                <a:solidFill>
                  <a:srgbClr val="30205F"/>
                </a:solidFill>
              </a:defRPr>
            </a:lvl4pPr>
            <a:lvl5pPr>
              <a:buNone/>
              <a:defRPr sz="1200" i="0">
                <a:solidFill>
                  <a:srgbClr val="30205F"/>
                </a:solidFill>
              </a:defRPr>
            </a:lvl5pPr>
            <a:lvl6pPr>
              <a:buNone/>
              <a:defRPr sz="1200" i="0">
                <a:solidFill>
                  <a:srgbClr val="30205F"/>
                </a:solidFill>
              </a:defRPr>
            </a:lvl6pPr>
            <a:lvl7pPr>
              <a:buNone/>
              <a:defRPr sz="1200" i="0">
                <a:solidFill>
                  <a:srgbClr val="30205F"/>
                </a:solidFill>
              </a:defRPr>
            </a:lvl7pPr>
            <a:lvl8pPr>
              <a:buNone/>
              <a:defRPr sz="1200" i="0">
                <a:solidFill>
                  <a:srgbClr val="30205F"/>
                </a:solidFill>
              </a:defRPr>
            </a:lvl8pPr>
            <a:lvl9pPr>
              <a:buNone/>
              <a:defRPr sz="1200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TRACK</a:t>
            </a:r>
            <a:endParaRPr sz="900"/>
          </a:p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06: Climate &amp; Sustainability</a:t>
            </a:r>
            <a:endParaRPr sz="900"/>
          </a:p>
        </p:txBody>
      </p:sp>
      <p:sp>
        <p:nvSpPr>
          <p:cNvPr id="12" name="Field: TEAM NAME">
            <a:extLst>
              <a:ext uri="{FF2B5EF4-FFF2-40B4-BE49-F238E27FC236}">
                <a16:creationId xmlns:a16="http://schemas.microsoft.com/office/drawing/2014/main" id="{44F77A1B-2F53-408C-BBB2-E1775E97BC60}"/>
              </a:ext>
            </a:extLst>
          </p:cNvPr>
          <p:cNvSpPr>
            <a:spLocks noGrp="1"/>
          </p:cNvSpPr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 i="0">
                <a:solidFill>
                  <a:srgbClr val="30205F"/>
                </a:solidFill>
              </a:defRPr>
            </a:defPPr>
            <a:lvl1pPr>
              <a:buNone/>
              <a:defRPr sz="1200" i="0">
                <a:solidFill>
                  <a:srgbClr val="30205F"/>
                </a:solidFill>
              </a:defRPr>
            </a:lvl1pPr>
            <a:lvl2pPr>
              <a:buNone/>
              <a:defRPr sz="1200" i="0">
                <a:solidFill>
                  <a:srgbClr val="30205F"/>
                </a:solidFill>
              </a:defRPr>
            </a:lvl2pPr>
            <a:lvl3pPr>
              <a:buNone/>
              <a:defRPr sz="1200" i="0">
                <a:solidFill>
                  <a:srgbClr val="30205F"/>
                </a:solidFill>
              </a:defRPr>
            </a:lvl3pPr>
            <a:lvl4pPr>
              <a:buNone/>
              <a:defRPr sz="1200" i="0">
                <a:solidFill>
                  <a:srgbClr val="30205F"/>
                </a:solidFill>
              </a:defRPr>
            </a:lvl4pPr>
            <a:lvl5pPr>
              <a:buNone/>
              <a:defRPr sz="1200" i="0">
                <a:solidFill>
                  <a:srgbClr val="30205F"/>
                </a:solidFill>
              </a:defRPr>
            </a:lvl5pPr>
            <a:lvl6pPr>
              <a:buNone/>
              <a:defRPr sz="1200" i="0">
                <a:solidFill>
                  <a:srgbClr val="30205F"/>
                </a:solidFill>
              </a:defRPr>
            </a:lvl6pPr>
            <a:lvl7pPr>
              <a:buNone/>
              <a:defRPr sz="1200" i="0">
                <a:solidFill>
                  <a:srgbClr val="30205F"/>
                </a:solidFill>
              </a:defRPr>
            </a:lvl7pPr>
            <a:lvl8pPr>
              <a:buNone/>
              <a:defRPr sz="1200" i="0">
                <a:solidFill>
                  <a:srgbClr val="30205F"/>
                </a:solidFill>
              </a:defRPr>
            </a:lvl8pPr>
            <a:lvl9pPr>
              <a:buNone/>
              <a:defRPr sz="1200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TEAM NAME</a:t>
            </a:r>
            <a:endParaRPr sz="900"/>
          </a:p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Quantum_coderz (HC-0167)</a:t>
            </a:r>
            <a:endParaRPr sz="900"/>
          </a:p>
        </p:txBody>
      </p:sp>
      <p:sp>
        <p:nvSpPr>
          <p:cNvPr id="13" name="Field: TEAM LEADER">
            <a:extLst>
              <a:ext uri="{FF2B5EF4-FFF2-40B4-BE49-F238E27FC236}">
                <a16:creationId xmlns:a16="http://schemas.microsoft.com/office/drawing/2014/main" id="{A0A63F4C-972C-4B33-A280-FF52C3FBA348}"/>
              </a:ext>
            </a:extLst>
          </p:cNvPr>
          <p:cNvSpPr>
            <a:spLocks noGrp="1"/>
          </p:cNvSpPr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 i="0">
                <a:solidFill>
                  <a:srgbClr val="30205F"/>
                </a:solidFill>
              </a:defRPr>
            </a:defPPr>
            <a:lvl1pPr>
              <a:buNone/>
              <a:defRPr sz="1200" i="0">
                <a:solidFill>
                  <a:srgbClr val="30205F"/>
                </a:solidFill>
              </a:defRPr>
            </a:lvl1pPr>
            <a:lvl2pPr>
              <a:buNone/>
              <a:defRPr sz="1200" i="0">
                <a:solidFill>
                  <a:srgbClr val="30205F"/>
                </a:solidFill>
              </a:defRPr>
            </a:lvl2pPr>
            <a:lvl3pPr>
              <a:buNone/>
              <a:defRPr sz="1200" i="0">
                <a:solidFill>
                  <a:srgbClr val="30205F"/>
                </a:solidFill>
              </a:defRPr>
            </a:lvl3pPr>
            <a:lvl4pPr>
              <a:buNone/>
              <a:defRPr sz="1200" i="0">
                <a:solidFill>
                  <a:srgbClr val="30205F"/>
                </a:solidFill>
              </a:defRPr>
            </a:lvl4pPr>
            <a:lvl5pPr>
              <a:buNone/>
              <a:defRPr sz="1200" i="0">
                <a:solidFill>
                  <a:srgbClr val="30205F"/>
                </a:solidFill>
              </a:defRPr>
            </a:lvl5pPr>
            <a:lvl6pPr>
              <a:buNone/>
              <a:defRPr sz="1200" i="0">
                <a:solidFill>
                  <a:srgbClr val="30205F"/>
                </a:solidFill>
              </a:defRPr>
            </a:lvl6pPr>
            <a:lvl7pPr>
              <a:buNone/>
              <a:defRPr sz="1200" i="0">
                <a:solidFill>
                  <a:srgbClr val="30205F"/>
                </a:solidFill>
              </a:defRPr>
            </a:lvl7pPr>
            <a:lvl8pPr>
              <a:buNone/>
              <a:defRPr sz="1200" i="0">
                <a:solidFill>
                  <a:srgbClr val="30205F"/>
                </a:solidFill>
              </a:defRPr>
            </a:lvl8pPr>
            <a:lvl9pPr>
              <a:buNone/>
              <a:defRPr sz="1200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TEAM LEADER</a:t>
            </a:r>
            <a:endParaRPr sz="900"/>
          </a:p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Shylan Kamesh S</a:t>
            </a:r>
            <a:endParaRPr sz="900"/>
          </a:p>
        </p:txBody>
      </p:sp>
      <p:sp>
        <p:nvSpPr>
          <p:cNvPr id="14" name="Field: EMAIL / CONTACT">
            <a:extLst>
              <a:ext uri="{FF2B5EF4-FFF2-40B4-BE49-F238E27FC236}">
                <a16:creationId xmlns:a16="http://schemas.microsoft.com/office/drawing/2014/main" id="{50904A67-DD11-4CBD-85C0-46268CCD9ACA}"/>
              </a:ext>
            </a:extLst>
          </p:cNvPr>
          <p:cNvSpPr>
            <a:spLocks noGrp="1"/>
          </p:cNvSpPr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 i="0">
                <a:solidFill>
                  <a:srgbClr val="30205F"/>
                </a:solidFill>
              </a:defRPr>
            </a:defPPr>
            <a:lvl1pPr>
              <a:buNone/>
              <a:defRPr sz="1200" i="0">
                <a:solidFill>
                  <a:srgbClr val="30205F"/>
                </a:solidFill>
              </a:defRPr>
            </a:lvl1pPr>
            <a:lvl2pPr>
              <a:buNone/>
              <a:defRPr sz="1200" i="0">
                <a:solidFill>
                  <a:srgbClr val="30205F"/>
                </a:solidFill>
              </a:defRPr>
            </a:lvl2pPr>
            <a:lvl3pPr>
              <a:buNone/>
              <a:defRPr sz="1200" i="0">
                <a:solidFill>
                  <a:srgbClr val="30205F"/>
                </a:solidFill>
              </a:defRPr>
            </a:lvl3pPr>
            <a:lvl4pPr>
              <a:buNone/>
              <a:defRPr sz="1200" i="0">
                <a:solidFill>
                  <a:srgbClr val="30205F"/>
                </a:solidFill>
              </a:defRPr>
            </a:lvl4pPr>
            <a:lvl5pPr>
              <a:buNone/>
              <a:defRPr sz="1200" i="0">
                <a:solidFill>
                  <a:srgbClr val="30205F"/>
                </a:solidFill>
              </a:defRPr>
            </a:lvl5pPr>
            <a:lvl6pPr>
              <a:buNone/>
              <a:defRPr sz="1200" i="0">
                <a:solidFill>
                  <a:srgbClr val="30205F"/>
                </a:solidFill>
              </a:defRPr>
            </a:lvl6pPr>
            <a:lvl7pPr>
              <a:buNone/>
              <a:defRPr sz="1200" i="0">
                <a:solidFill>
                  <a:srgbClr val="30205F"/>
                </a:solidFill>
              </a:defRPr>
            </a:lvl7pPr>
            <a:lvl8pPr>
              <a:buNone/>
              <a:defRPr sz="1200" i="0">
                <a:solidFill>
                  <a:srgbClr val="30205F"/>
                </a:solidFill>
              </a:defRPr>
            </a:lvl8pPr>
            <a:lvl9pPr>
              <a:buNone/>
              <a:defRPr sz="1200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EMAIL / CONTACT</a:t>
            </a:r>
            <a:endParaRPr sz="900"/>
          </a:p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GitHub: shylankamesh</a:t>
            </a:r>
            <a:endParaRPr sz="900"/>
          </a:p>
        </p:txBody>
      </p:sp>
      <p:sp>
        <p:nvSpPr>
          <p:cNvPr id="15" name="Field: TEAM MEMBERS">
            <a:extLst>
              <a:ext uri="{FF2B5EF4-FFF2-40B4-BE49-F238E27FC236}">
                <a16:creationId xmlns:a16="http://schemas.microsoft.com/office/drawing/2014/main" id="{735A9C6E-7BBA-45C4-B2A0-0FC6AA1E2871}"/>
              </a:ext>
            </a:extLst>
          </p:cNvPr>
          <p:cNvSpPr>
            <a:spLocks noGrp="1"/>
          </p:cNvSpPr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 i="0">
                <a:solidFill>
                  <a:srgbClr val="30205F"/>
                </a:solidFill>
              </a:defRPr>
            </a:defPPr>
            <a:lvl1pPr>
              <a:buNone/>
              <a:defRPr sz="1200" i="0">
                <a:solidFill>
                  <a:srgbClr val="30205F"/>
                </a:solidFill>
              </a:defRPr>
            </a:lvl1pPr>
            <a:lvl2pPr>
              <a:buNone/>
              <a:defRPr sz="1200" i="0">
                <a:solidFill>
                  <a:srgbClr val="30205F"/>
                </a:solidFill>
              </a:defRPr>
            </a:lvl2pPr>
            <a:lvl3pPr>
              <a:buNone/>
              <a:defRPr sz="1200" i="0">
                <a:solidFill>
                  <a:srgbClr val="30205F"/>
                </a:solidFill>
              </a:defRPr>
            </a:lvl3pPr>
            <a:lvl4pPr>
              <a:buNone/>
              <a:defRPr sz="1200" i="0">
                <a:solidFill>
                  <a:srgbClr val="30205F"/>
                </a:solidFill>
              </a:defRPr>
            </a:lvl4pPr>
            <a:lvl5pPr>
              <a:buNone/>
              <a:defRPr sz="1200" i="0">
                <a:solidFill>
                  <a:srgbClr val="30205F"/>
                </a:solidFill>
              </a:defRPr>
            </a:lvl5pPr>
            <a:lvl6pPr>
              <a:buNone/>
              <a:defRPr sz="1200" i="0">
                <a:solidFill>
                  <a:srgbClr val="30205F"/>
                </a:solidFill>
              </a:defRPr>
            </a:lvl6pPr>
            <a:lvl7pPr>
              <a:buNone/>
              <a:defRPr sz="1200" i="0">
                <a:solidFill>
                  <a:srgbClr val="30205F"/>
                </a:solidFill>
              </a:defRPr>
            </a:lvl7pPr>
            <a:lvl8pPr>
              <a:buNone/>
              <a:defRPr sz="1200" i="0">
                <a:solidFill>
                  <a:srgbClr val="30205F"/>
                </a:solidFill>
              </a:defRPr>
            </a:lvl8pPr>
            <a:lvl9pPr>
              <a:buNone/>
              <a:defRPr sz="1200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TEAM MEMBERS</a:t>
            </a:r>
            <a:endParaRPr sz="900"/>
          </a:p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Shylan Kamesh S • Sai Santhosh T • Derin Godson</a:t>
            </a:r>
            <a:endParaRPr sz="900"/>
          </a:p>
        </p:txBody>
      </p:sp>
      <p:sp>
        <p:nvSpPr>
          <p:cNvPr id="16" name="Field: INSTITUTION / ORGANISATION">
            <a:extLst>
              <a:ext uri="{FF2B5EF4-FFF2-40B4-BE49-F238E27FC236}">
                <a16:creationId xmlns:a16="http://schemas.microsoft.com/office/drawing/2014/main" id="{0640292F-4D90-48E8-A805-A67CF9F7A1C3}"/>
              </a:ext>
            </a:extLst>
          </p:cNvPr>
          <p:cNvSpPr>
            <a:spLocks noGrp="1"/>
          </p:cNvSpPr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975" i="0">
                <a:solidFill>
                  <a:srgbClr val="30205F"/>
                </a:solidFill>
              </a:defRPr>
            </a:defPPr>
            <a:lvl1pPr>
              <a:buNone/>
              <a:defRPr sz="975" i="0">
                <a:solidFill>
                  <a:srgbClr val="30205F"/>
                </a:solidFill>
              </a:defRPr>
            </a:lvl1pPr>
            <a:lvl2pPr>
              <a:buNone/>
              <a:defRPr sz="975" i="0">
                <a:solidFill>
                  <a:srgbClr val="30205F"/>
                </a:solidFill>
              </a:defRPr>
            </a:lvl2pPr>
            <a:lvl3pPr>
              <a:buNone/>
              <a:defRPr sz="975" i="0">
                <a:solidFill>
                  <a:srgbClr val="30205F"/>
                </a:solidFill>
              </a:defRPr>
            </a:lvl3pPr>
            <a:lvl4pPr>
              <a:buNone/>
              <a:defRPr sz="975" i="0">
                <a:solidFill>
                  <a:srgbClr val="30205F"/>
                </a:solidFill>
              </a:defRPr>
            </a:lvl4pPr>
            <a:lvl5pPr>
              <a:buNone/>
              <a:defRPr sz="975" i="0">
                <a:solidFill>
                  <a:srgbClr val="30205F"/>
                </a:solidFill>
              </a:defRPr>
            </a:lvl5pPr>
            <a:lvl6pPr>
              <a:buNone/>
              <a:defRPr sz="975" i="0">
                <a:solidFill>
                  <a:srgbClr val="30205F"/>
                </a:solidFill>
              </a:defRPr>
            </a:lvl6pPr>
            <a:lvl7pPr>
              <a:buNone/>
              <a:defRPr sz="975" i="0">
                <a:solidFill>
                  <a:srgbClr val="30205F"/>
                </a:solidFill>
              </a:defRPr>
            </a:lvl7pPr>
            <a:lvl8pPr>
              <a:buNone/>
              <a:defRPr sz="975" i="0">
                <a:solidFill>
                  <a:srgbClr val="30205F"/>
                </a:solidFill>
              </a:defRPr>
            </a:lvl8pPr>
            <a:lvl9pPr>
              <a:buNone/>
              <a:defRPr sz="975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975" i="0">
                <a:solidFill>
                  <a:srgbClr val="30205F"/>
                </a:solidFill>
              </a:defRPr>
            </a:pPr>
            <a:r>
              <a:rPr sz="975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INSTITUTION / ORGANISATION</a:t>
            </a:r>
            <a:endParaRPr sz="900"/>
          </a:p>
          <a:p>
            <a:pPr marL="0" indent="0" algn="l">
              <a:buNone/>
              <a:defRPr sz="975" i="0">
                <a:solidFill>
                  <a:srgbClr val="30205F"/>
                </a:solidFill>
              </a:defRPr>
            </a:pPr>
            <a:r>
              <a:rPr sz="9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Amrita Vishwa Vidyapeetham</a:t>
            </a:r>
            <a:endParaRPr sz="900"/>
          </a:p>
        </p:txBody>
      </p:sp>
      <p:sp>
        <p:nvSpPr>
          <p:cNvPr id="17" name="Field: COUNTRY">
            <a:extLst>
              <a:ext uri="{FF2B5EF4-FFF2-40B4-BE49-F238E27FC236}">
                <a16:creationId xmlns:a16="http://schemas.microsoft.com/office/drawing/2014/main" id="{203897E0-F290-4C20-AC13-743080DC74BD}"/>
              </a:ext>
            </a:extLst>
          </p:cNvPr>
          <p:cNvSpPr>
            <a:spLocks noGrp="1"/>
          </p:cNvSpPr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 i="0">
                <a:solidFill>
                  <a:srgbClr val="30205F"/>
                </a:solidFill>
              </a:defRPr>
            </a:defPPr>
            <a:lvl1pPr>
              <a:buNone/>
              <a:defRPr sz="1200" i="0">
                <a:solidFill>
                  <a:srgbClr val="30205F"/>
                </a:solidFill>
              </a:defRPr>
            </a:lvl1pPr>
            <a:lvl2pPr>
              <a:buNone/>
              <a:defRPr sz="1200" i="0">
                <a:solidFill>
                  <a:srgbClr val="30205F"/>
                </a:solidFill>
              </a:defRPr>
            </a:lvl2pPr>
            <a:lvl3pPr>
              <a:buNone/>
              <a:defRPr sz="1200" i="0">
                <a:solidFill>
                  <a:srgbClr val="30205F"/>
                </a:solidFill>
              </a:defRPr>
            </a:lvl3pPr>
            <a:lvl4pPr>
              <a:buNone/>
              <a:defRPr sz="1200" i="0">
                <a:solidFill>
                  <a:srgbClr val="30205F"/>
                </a:solidFill>
              </a:defRPr>
            </a:lvl4pPr>
            <a:lvl5pPr>
              <a:buNone/>
              <a:defRPr sz="1200" i="0">
                <a:solidFill>
                  <a:srgbClr val="30205F"/>
                </a:solidFill>
              </a:defRPr>
            </a:lvl5pPr>
            <a:lvl6pPr>
              <a:buNone/>
              <a:defRPr sz="1200" i="0">
                <a:solidFill>
                  <a:srgbClr val="30205F"/>
                </a:solidFill>
              </a:defRPr>
            </a:lvl6pPr>
            <a:lvl7pPr>
              <a:buNone/>
              <a:defRPr sz="1200" i="0">
                <a:solidFill>
                  <a:srgbClr val="30205F"/>
                </a:solidFill>
              </a:defRPr>
            </a:lvl7pPr>
            <a:lvl8pPr>
              <a:buNone/>
              <a:defRPr sz="1200" i="0">
                <a:solidFill>
                  <a:srgbClr val="30205F"/>
                </a:solidFill>
              </a:defRPr>
            </a:lvl8pPr>
            <a:lvl9pPr>
              <a:buNone/>
              <a:defRPr sz="1200" i="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b="1" i="0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COUNTRY</a:t>
            </a:r>
            <a:endParaRPr sz="900"/>
          </a:p>
          <a:p>
            <a:pPr marL="0" indent="0" algn="l">
              <a:buNone/>
              <a:defRPr sz="1200" i="0">
                <a:solidFill>
                  <a:srgbClr val="30205F"/>
                </a:solidFill>
              </a:defRPr>
            </a:pPr>
            <a:r>
              <a:rPr sz="1200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India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5020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3EB3538E-4ADC-403A-B6E4-9EA80B1713AC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Problem Statement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EB9A98B3-8601-4634-A61E-7E7F10F71F91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B4DF79D5-424E-47F8-99A2-D5861DFDDF13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393BE12A-D71F-406C-A6A4-E7EF770EAD31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>
            <a:extLst>
              <a:ext uri="{FF2B5EF4-FFF2-40B4-BE49-F238E27FC236}">
                <a16:creationId xmlns:a16="http://schemas.microsoft.com/office/drawing/2014/main" id="{175E6DE3-CC4D-4F91-9C5B-9A951DBD10CA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>
            <a:extLst>
              <a:ext uri="{FF2B5EF4-FFF2-40B4-BE49-F238E27FC236}">
                <a16:creationId xmlns:a16="http://schemas.microsoft.com/office/drawing/2014/main" id="{7906D9BA-E058-477D-9F8B-012406375885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2138EB-DB71-4892-A5AD-387B9B34C25B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7696200" cy="25717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Irrigation planning under uncertain weather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Allocate exactly K equal-volume events across three fields and four windows. Rainfall, evaporation and crop targets can differ by field.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Replan when forecasts change, while keeping completed decisions frozen. Score expected moisture stress and CVaR tail risk.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Research question: can selective QAOA invocation reduce quantum calls and shots compared with always-run QAOA?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EAAA0F8-7502-4802-B95A-A002C6901AB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99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FECC07BA-DD2B-4D31-9B81-0FCFF8D58B4B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Objectives &amp; Novelty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60F47E72-4B68-4958-B0F6-6E1F9097C326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6454237C-A8A3-403D-B81C-16AAC6B83532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DBC5C512-BE58-4BBC-AAFB-68C7B1D6CCCB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>
            <a:extLst>
              <a:ext uri="{FF2B5EF4-FFF2-40B4-BE49-F238E27FC236}">
                <a16:creationId xmlns:a16="http://schemas.microsoft.com/office/drawing/2014/main" id="{A0E48C74-3FB2-40A0-A247-C464531FA6F0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>
            <a:extLst>
              <a:ext uri="{FF2B5EF4-FFF2-40B4-BE49-F238E27FC236}">
                <a16:creationId xmlns:a16="http://schemas.microsoft.com/office/drawing/2014/main" id="{123CA370-8186-4EBD-B9BC-41E264E47E88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4FB0F4-2FE4-4CFB-903F-BA443A7CAFF4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7696200" cy="25717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Objective: improve the use of quantum search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Use forecast changes and candidate instability to decide when to invoke QAOA. Track calls and shots within a rolling budget.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Tune circuit parameters with COBYLA and rescore measured candidates with the full classical risk objective.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Contribution: an integrated, auditable replanning workflow. Classical methods remain essential. First-of-its-kind novelty is not established.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2B83E0F-FA5F-46B4-B0D5-7358C78ECAB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594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7864CABF-5404-458E-9B89-BDABE7BB5EF1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6675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1950"/>
            </a:defPPr>
            <a:lvl1pPr>
              <a:defRPr sz="1950"/>
            </a:lvl1pPr>
            <a:lvl2pPr>
              <a:defRPr sz="1950"/>
            </a:lvl2pPr>
            <a:lvl3pPr>
              <a:defRPr sz="1950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marL="0" indent="0" algn="l">
              <a:buNone/>
            </a:pPr>
            <a:r>
              <a:rPr sz="195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Hybrid Solution &amp; Quantum Resource Efficiency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9324884F-7E7B-4032-8443-B7D25C479CF4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7419A29E-F4F3-4B67-B1D9-0257CF95D091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120F4A2C-18DD-46B9-A360-CBECBA998EF2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>
            <a:extLst>
              <a:ext uri="{FF2B5EF4-FFF2-40B4-BE49-F238E27FC236}">
                <a16:creationId xmlns:a16="http://schemas.microsoft.com/office/drawing/2014/main" id="{02EF8435-E37A-4E39-A93C-D62E7C9F30A3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>
            <a:extLst>
              <a:ext uri="{FF2B5EF4-FFF2-40B4-BE49-F238E27FC236}">
                <a16:creationId xmlns:a16="http://schemas.microsoft.com/office/drawing/2014/main" id="{BAE918A7-A85B-406E-9667-68AE9DC9DA83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EA7AD-9070-44D5-BE9F-7DB943521E34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7696200" cy="25717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Classical planning remains the foundation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1. Generate feasible greedy and local-search schedules.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2. Apply the forecast-aware invocation gate and budget check.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3. Run optional QAOA, then check feasibility and risk classically.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4. Keep the incumbent unless a measured candidate improves it.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Contribution: reduce unnecessary QAOA executions and quantum resource use. We do not claim to outperform classical optimization.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91D1010-4AE6-4B36-A808-5863910A9EB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3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83EBF626-6F42-4A29-A8F7-6E01C3555FE0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Algorithm &amp; Circuit Design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437D4E16-5D7C-40CE-9A9E-BCDD06BEDC38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2C24D98C-3369-4928-9F11-70C8285DD250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675EC9EC-637F-4BFB-A1D5-C3B3994AC2E3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>
            <a:extLst>
              <a:ext uri="{FF2B5EF4-FFF2-40B4-BE49-F238E27FC236}">
                <a16:creationId xmlns:a16="http://schemas.microsoft.com/office/drawing/2014/main" id="{BCFC2698-0FB5-48A6-A986-9E274C2B60EA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3BC02C-F3B5-43F6-95B6-9BE0888F48A1}"/>
              </a:ext>
            </a:extLst>
          </p:cNvPr>
          <p:cNvSpPr>
            <a:spLocks noGrp="1"/>
          </p:cNvSpPr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1875" i="0">
                <a:solidFill>
                  <a:srgbClr val="30205F"/>
                </a:solidFill>
              </a:defRPr>
            </a:defPPr>
            <a:lvl1pPr>
              <a:buNone/>
              <a:defRPr sz="1875" i="0">
                <a:solidFill>
                  <a:srgbClr val="30205F"/>
                </a:solidFill>
              </a:defRPr>
            </a:lvl1pPr>
            <a:lvl2pPr>
              <a:buNone/>
              <a:defRPr sz="1875" i="0">
                <a:solidFill>
                  <a:srgbClr val="30205F"/>
                </a:solidFill>
              </a:defRPr>
            </a:lvl2pPr>
            <a:lvl3pPr>
              <a:buNone/>
              <a:defRPr sz="1875" i="0">
                <a:solidFill>
                  <a:srgbClr val="30205F"/>
                </a:solidFill>
              </a:defRPr>
            </a:lvl3pPr>
            <a:lvl4pPr>
              <a:buNone/>
              <a:defRPr sz="1875" i="0">
                <a:solidFill>
                  <a:srgbClr val="30205F"/>
                </a:solidFill>
              </a:defRPr>
            </a:lvl4pPr>
            <a:lvl5pPr>
              <a:buNone/>
              <a:defRPr sz="1875" i="0">
                <a:solidFill>
                  <a:srgbClr val="30205F"/>
                </a:solidFill>
              </a:defRPr>
            </a:lvl5pPr>
            <a:lvl6pPr>
              <a:buNone/>
              <a:defRPr sz="1875" i="0">
                <a:solidFill>
                  <a:srgbClr val="30205F"/>
                </a:solidFill>
              </a:defRPr>
            </a:lvl6pPr>
            <a:lvl7pPr>
              <a:buNone/>
              <a:defRPr sz="1875" i="0">
                <a:solidFill>
                  <a:srgbClr val="30205F"/>
                </a:solidFill>
              </a:defRPr>
            </a:lvl7pPr>
            <a:lvl8pPr>
              <a:buNone/>
              <a:defRPr sz="1875" i="0">
                <a:solidFill>
                  <a:srgbClr val="30205F"/>
                </a:solidFill>
              </a:defRPr>
            </a:lvl8pPr>
            <a:lvl9pPr>
              <a:buNone/>
              <a:defRPr sz="1875" i="0">
                <a:solidFill>
                  <a:srgbClr val="30205F"/>
                </a:solidFill>
              </a:defRPr>
            </a:lvl9pPr>
          </a:lstStyle>
          <a:p>
            <a:pPr marL="0" indent="0" algn="ctr">
              <a:buNone/>
              <a:defRPr sz="1875" i="0">
                <a:solidFill>
                  <a:srgbClr val="30205F"/>
                </a:solidFill>
              </a:defRPr>
            </a:pPr>
            <a:r>
              <a:rPr sz="1875" b="1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QAOA circuit sequence (p = 1)</a:t>
            </a:r>
            <a:endParaRPr sz="1400"/>
          </a:p>
          <a:p>
            <a:pPr marL="0" indent="0" algn="ctr">
              <a:buNone/>
            </a:pPr>
            <a:endParaRPr sz="1400"/>
          </a:p>
          <a:p>
            <a:pPr marL="0" indent="0" algn="ctr">
              <a:buNone/>
              <a:defRPr sz="1875" i="0">
                <a:solidFill>
                  <a:srgbClr val="30205F"/>
                </a:solidFill>
              </a:defRPr>
            </a:pPr>
            <a:r>
              <a:rPr sz="18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Feasible fixed-weight starting state</a:t>
            </a:r>
            <a:endParaRPr sz="1400"/>
          </a:p>
          <a:p>
            <a:pPr marL="0" indent="0" algn="ctr">
              <a:buNone/>
            </a:pPr>
            <a:endParaRPr sz="1400"/>
          </a:p>
          <a:p>
            <a:pPr marL="0" indent="0" algn="ctr">
              <a:buNone/>
              <a:defRPr sz="1875" i="0">
                <a:solidFill>
                  <a:srgbClr val="30205F"/>
                </a:solidFill>
              </a:defRPr>
            </a:pPr>
            <a:r>
              <a:rPr sz="18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RZ / RZZ cost rotations</a:t>
            </a:r>
            <a:endParaRPr sz="1400"/>
          </a:p>
          <a:p>
            <a:pPr marL="0" indent="0" algn="ctr">
              <a:buNone/>
              <a:defRPr sz="1875" i="0">
                <a:solidFill>
                  <a:srgbClr val="30205F"/>
                </a:solidFill>
              </a:defRPr>
            </a:pPr>
            <a:r>
              <a:rPr sz="18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Expected-stress QUBO</a:t>
            </a:r>
            <a:endParaRPr sz="1400"/>
          </a:p>
          <a:p>
            <a:pPr marL="0" indent="0" algn="ctr">
              <a:buNone/>
            </a:pPr>
            <a:endParaRPr sz="1400"/>
          </a:p>
          <a:p>
            <a:pPr marL="0" indent="0" algn="ctr">
              <a:buNone/>
              <a:defRPr sz="1875" i="0">
                <a:solidFill>
                  <a:srgbClr val="30205F"/>
                </a:solidFill>
              </a:defRPr>
            </a:pPr>
            <a:r>
              <a:rPr sz="18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XX+YY mixing</a:t>
            </a:r>
            <a:endParaRPr sz="1400"/>
          </a:p>
          <a:p>
            <a:pPr marL="0" indent="0" algn="ctr">
              <a:buNone/>
              <a:defRPr sz="1875" i="0">
                <a:solidFill>
                  <a:srgbClr val="30205F"/>
                </a:solidFill>
              </a:defRPr>
            </a:pPr>
            <a:r>
              <a:rPr sz="18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Preserves event count</a:t>
            </a:r>
            <a:endParaRPr sz="1400"/>
          </a:p>
          <a:p>
            <a:pPr marL="0" indent="0" algn="ctr">
              <a:buNone/>
            </a:pPr>
            <a:endParaRPr sz="1400"/>
          </a:p>
          <a:p>
            <a:pPr marL="0" indent="0" algn="ctr">
              <a:buNone/>
              <a:defRPr sz="1875" i="0">
                <a:solidFill>
                  <a:srgbClr val="30205F"/>
                </a:solidFill>
              </a:defRPr>
            </a:pPr>
            <a:r>
              <a:rPr sz="18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Measurement and classical risk rescoring</a:t>
            </a:r>
            <a:endParaRPr sz="1400"/>
          </a:p>
        </p:txBody>
      </p:sp>
      <p:sp>
        <p:nvSpPr>
          <p:cNvPr id="8" name="Content card">
            <a:extLst>
              <a:ext uri="{FF2B5EF4-FFF2-40B4-BE49-F238E27FC236}">
                <a16:creationId xmlns:a16="http://schemas.microsoft.com/office/drawing/2014/main" id="{569E3725-2B24-44B8-B4FE-6DA25FBB49F4}"/>
              </a:ext>
            </a:extLst>
          </p:cNvPr>
          <p:cNvSpPr>
            <a:spLocks noGrp="1"/>
          </p:cNvSpPr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>
            <a:extLst>
              <a:ext uri="{FF2B5EF4-FFF2-40B4-BE49-F238E27FC236}">
                <a16:creationId xmlns:a16="http://schemas.microsoft.com/office/drawing/2014/main" id="{D372E888-6D76-4A82-82F2-C5D5E606E917}"/>
              </a:ext>
            </a:extLst>
          </p:cNvPr>
          <p:cNvSpPr>
            <a:spLocks noGrp="1"/>
          </p:cNvSpPr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8DDD34E-8A01-4BBB-BFB4-52AE4B0FF433}"/>
              </a:ext>
            </a:extLst>
          </p:cNvPr>
          <p:cNvSpPr>
            <a:spLocks noGrp="1"/>
          </p:cNvSpPr>
          <p:nvPr/>
        </p:nvSpPr>
        <p:spPr>
          <a:xfrm>
            <a:off x="5800725" y="1924050"/>
            <a:ext cx="2647950" cy="255270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COBYLA tunes circuit angles.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384 shots per benchmark call, split between tuning and final sampling.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Full CVaR stays in classical scoring.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Up to 3 calls per episode.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68C3ABD-C9C3-4A96-B9F4-F9F997291FE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825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4768CA28-0651-4CFB-8FF1-74ADC8E8666B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Implementation &amp; Tech Stack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753ADE1D-271B-44FD-B82A-2897C65E35DB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A79CBD70-F3C4-4144-A0DC-87294463CCE2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F017940E-AF9D-419D-BB61-7331CC3B29FA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>
            <a:extLst>
              <a:ext uri="{FF2B5EF4-FFF2-40B4-BE49-F238E27FC236}">
                <a16:creationId xmlns:a16="http://schemas.microsoft.com/office/drawing/2014/main" id="{0F9E35FF-27BF-4A29-88BD-96B2E2F9D63B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>
            <a:extLst>
              <a:ext uri="{FF2B5EF4-FFF2-40B4-BE49-F238E27FC236}">
                <a16:creationId xmlns:a16="http://schemas.microsoft.com/office/drawing/2014/main" id="{A44B9D29-E42D-4B4B-94C7-E6A21984E666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3D4FC0-B7C2-49CA-BDFE-339C94513FC2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7696200" cy="25717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Python implementation and deployed web demo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Planning: NumPy, field-level scenarios, empirical CVaR and feasibility checks.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Quantum search: Qiskit Aer, p=1 XY-QAOA and SciPy COBYLA.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Interface: FastAPI, Pydantic and vanilla HTML/CSS/JavaScript.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Verification: 72 Python tests and both frontend regression checks passed. A cloud QAOA run completed with 384 shots across 9 circuits.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Deployment: Google Cloud Run. Saved-plan evaluation uses no extra quantum shots.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4A0A713-8F78-4BB7-A5F0-BDF7F704077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3896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8048A0D4-7096-4B68-9A75-96C2A0637DC6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Results &amp; Analysis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07887942-A828-49BC-8439-C75F792F3C46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A92A9806-5213-4B01-A9C2-41983A42B6EF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A338405A-C95F-45F4-97C9-3FC213A64309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>
            <a:extLst>
              <a:ext uri="{FF2B5EF4-FFF2-40B4-BE49-F238E27FC236}">
                <a16:creationId xmlns:a16="http://schemas.microsoft.com/office/drawing/2014/main" id="{12476BB1-7ED6-4B10-8836-C97A6E7DFAF4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A05C15-D8D8-4559-AA9F-342847236B68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4524375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650" i="0">
                <a:solidFill>
                  <a:srgbClr val="30205F"/>
                </a:solidFill>
              </a:defRPr>
            </a:lvl1pPr>
            <a:lvl2pPr>
              <a:buNone/>
              <a:defRPr sz="1650" i="0">
                <a:solidFill>
                  <a:srgbClr val="30205F"/>
                </a:solidFill>
              </a:defRPr>
            </a:lvl2pPr>
            <a:lvl3pPr>
              <a:buNone/>
              <a:defRPr sz="1650" i="0">
                <a:solidFill>
                  <a:srgbClr val="30205F"/>
                </a:solidFill>
              </a:defRPr>
            </a:lvl3pPr>
            <a:lvl4pPr>
              <a:buNone/>
              <a:defRPr sz="1650" i="0">
                <a:solidFill>
                  <a:srgbClr val="30205F"/>
                </a:solidFill>
              </a:defRPr>
            </a:lvl4pPr>
            <a:lvl5pPr>
              <a:buNone/>
              <a:defRPr sz="1650" i="0">
                <a:solidFill>
                  <a:srgbClr val="30205F"/>
                </a:solidFill>
              </a:defRPr>
            </a:lvl5pPr>
            <a:lvl6pPr>
              <a:buNone/>
              <a:defRPr sz="1650" i="0">
                <a:solidFill>
                  <a:srgbClr val="30205F"/>
                </a:solidFill>
              </a:defRPr>
            </a:lvl6pPr>
            <a:lvl7pPr>
              <a:buNone/>
              <a:defRPr sz="1650" i="0">
                <a:solidFill>
                  <a:srgbClr val="30205F"/>
                </a:solidFill>
              </a:defRPr>
            </a:lvl7pPr>
            <a:lvl8pPr>
              <a:buNone/>
              <a:defRPr sz="1650" i="0">
                <a:solidFill>
                  <a:srgbClr val="30205F"/>
                </a:solidFill>
              </a:defRPr>
            </a:lvl8pPr>
            <a:lvl9pPr>
              <a:buNone/>
              <a:defRPr sz="1650" i="0">
                <a:solidFill>
                  <a:srgbClr val="30205F"/>
                </a:solidFill>
              </a:defRPr>
            </a:lvl9pPr>
          </a:lstStyle>
          <a:p>
            <a:pPr marL="0" indent="0" algn="ctr">
              <a:buNone/>
              <a:defRPr sz="1725" i="0">
                <a:solidFill>
                  <a:srgbClr val="30205F"/>
                </a:solidFill>
              </a:defRPr>
            </a:pPr>
            <a:r>
              <a:rPr sz="1575" b="1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18 held-out episodes per policy</a:t>
            </a:r>
            <a:endParaRPr sz="1400"/>
          </a:p>
        </p:txBody>
      </p:sp>
      <p:sp>
        <p:nvSpPr>
          <p:cNvPr id="8" name="Content card">
            <a:extLst>
              <a:ext uri="{FF2B5EF4-FFF2-40B4-BE49-F238E27FC236}">
                <a16:creationId xmlns:a16="http://schemas.microsoft.com/office/drawing/2014/main" id="{E0AC1AFE-66BC-4851-B9C6-9357EF80CD4B}"/>
              </a:ext>
            </a:extLst>
          </p:cNvPr>
          <p:cNvSpPr>
            <a:spLocks noGrp="1"/>
          </p:cNvSpPr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>
            <a:extLst>
              <a:ext uri="{FF2B5EF4-FFF2-40B4-BE49-F238E27FC236}">
                <a16:creationId xmlns:a16="http://schemas.microsoft.com/office/drawing/2014/main" id="{447C4340-DA5A-454E-8347-8EAA711CC68D}"/>
              </a:ext>
            </a:extLst>
          </p:cNvPr>
          <p:cNvSpPr>
            <a:spLocks noGrp="1"/>
          </p:cNvSpPr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A6498F1-438D-42B2-9FB0-B828E110D15D}"/>
              </a:ext>
            </a:extLst>
          </p:cNvPr>
          <p:cNvSpPr>
            <a:spLocks noGrp="1"/>
          </p:cNvSpPr>
          <p:nvPr/>
        </p:nvSpPr>
        <p:spPr>
          <a:xfrm>
            <a:off x="5800725" y="1914525"/>
            <a:ext cx="264795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42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425" i="0">
                <a:solidFill>
                  <a:srgbClr val="30205F"/>
                </a:solidFill>
              </a:defRPr>
            </a:pPr>
            <a:r>
              <a:rPr sz="1425" b="1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65.8% fewer quantum shots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endParaRPr sz="1200"/>
          </a:p>
          <a:p>
            <a:pPr marL="0" indent="0">
              <a:buNone/>
              <a:defRPr sz="1425" i="0">
                <a:solidFill>
                  <a:srgbClr val="30205F"/>
                </a:solidFill>
              </a:defRPr>
            </a:pPr>
            <a:r>
              <a:rPr sz="1425" b="1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25 fewer QAOA calls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endParaRPr sz="1200"/>
          </a:p>
          <a:p>
            <a:pPr marL="0" indent="0">
              <a:buNone/>
              <a:defRPr sz="1425" i="0">
                <a:solidFill>
                  <a:srgbClr val="30205F"/>
                </a:solidFill>
              </a:defRPr>
            </a:pPr>
            <a:r>
              <a:rPr sz="142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Both hybrid approaches achieved the same observed final mean irrigation stress: 3,746.88.</a:t>
            </a: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endParaRPr sz="1200"/>
          </a:p>
          <a:p>
            <a:pPr marL="0" indent="0">
              <a:buNone/>
              <a:defRPr sz="1425" i="0">
                <a:solidFill>
                  <a:srgbClr val="30205F"/>
                </a:solidFill>
              </a:defRPr>
            </a:pPr>
            <a:r>
              <a:rPr sz="142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Both retain a classical incumbent.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402F00A-61EB-4A9D-ACB5-5ACE8983A6F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7</a:t>
            </a:fld>
            <a:endParaRPr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3691790-FA3C-4BEB-BB32-D198534909E5}"/>
              </a:ext>
            </a:extLst>
          </p:cNvPr>
          <p:cNvGraphicFramePr/>
          <p:nvPr/>
        </p:nvGraphicFramePr>
        <p:xfrm>
          <a:off x="742950" y="2209800"/>
          <a:ext cx="4381500" cy="857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3020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Calls</a:t>
                      </a:r>
                    </a:p>
                  </a:txBody>
                  <a:tcPr>
                    <a:solidFill>
                      <a:srgbClr val="3020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Shots</a:t>
                      </a:r>
                    </a:p>
                  </a:txBody>
                  <a:tcPr>
                    <a:solidFill>
                      <a:srgbClr val="3020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30205F"/>
                          </a:solidFill>
                        </a:rPr>
                        <a:t>Always-run QAOA</a:t>
                      </a:r>
                    </a:p>
                  </a:txBody>
                  <a:tcPr>
                    <a:solidFill>
                      <a:srgbClr val="F2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30205F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2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30205F"/>
                          </a:solidFill>
                        </a:rPr>
                        <a:t>14,592</a:t>
                      </a:r>
                    </a:p>
                  </a:txBody>
                  <a:tcPr>
                    <a:solidFill>
                      <a:srgbClr val="F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30205F"/>
                          </a:solidFill>
                        </a:rPr>
                        <a:t>Selective QAOA</a:t>
                      </a:r>
                    </a:p>
                  </a:txBody>
                  <a:tcPr>
                    <a:solidFill>
                      <a:srgbClr val="F2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30205F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2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30205F"/>
                          </a:solidFill>
                        </a:rPr>
                        <a:t>4,992</a:t>
                      </a:r>
                    </a:p>
                  </a:txBody>
                  <a:tcPr>
                    <a:solidFill>
                      <a:srgbClr val="F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Chart">
            <a:extLst>
              <a:ext uri="{FF2B5EF4-FFF2-40B4-BE49-F238E27FC236}">
                <a16:creationId xmlns:a16="http://schemas.microsoft.com/office/drawing/2014/main" id="{3656435B-C9F5-4D78-8E5E-D8249305465C}"/>
              </a:ext>
            </a:extLst>
          </p:cNvPr>
          <p:cNvGraphicFramePr/>
          <p:nvPr/>
        </p:nvGraphicFramePr>
        <p:xfrm>
          <a:off x="666750" y="3143250"/>
          <a:ext cx="4572000" cy="104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4665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6BDDF629-387A-4D0C-9DB8-50346E1005E5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Impact &amp; Real-World Applications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E07E2C2E-0E6A-4162-9B90-0556E8985574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B3B526C5-CF21-48A1-8FCA-D63393C39742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7ACB56F8-510E-4DD9-9F3B-4E45A1C783FD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>
            <a:extLst>
              <a:ext uri="{FF2B5EF4-FFF2-40B4-BE49-F238E27FC236}">
                <a16:creationId xmlns:a16="http://schemas.microsoft.com/office/drawing/2014/main" id="{3408662F-AAC0-4FDF-B177-59AC8DADB3C6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>
            <a:extLst>
              <a:ext uri="{FF2B5EF4-FFF2-40B4-BE49-F238E27FC236}">
                <a16:creationId xmlns:a16="http://schemas.microsoft.com/office/drawing/2014/main" id="{98CA0704-BA3D-492A-9242-FDB7EE96E003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61FEF4-31F8-4AC6-9540-DB93215A79A7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7696200" cy="25717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A research platform for resource-aware planning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Potential application: irrigation scheduling when weather forecasts change and computation has a limited budget.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The demo makes quantum invocation, candidate quality and classical fallback visible. It supports reproducible comparisons.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The current model is synthetic. Exactly K equal-volume events fixes water use. No measured farm-water savings, crop-yield benefit or hardware speedup is claimed.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BA17569-CFDF-49E8-B672-1B9639C1ED4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301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>
            <a:extLst>
              <a:ext uri="{FF2B5EF4-FFF2-40B4-BE49-F238E27FC236}">
                <a16:creationId xmlns:a16="http://schemas.microsoft.com/office/drawing/2014/main" id="{6CE423EE-39DF-4203-AA47-50DF3320F96D}"/>
              </a:ext>
            </a:extLst>
          </p:cNvPr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Challenges &amp; Future Scope</a:t>
            </a:r>
            <a:endParaRPr sz="2600"/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D5DDABEF-8FB6-40B5-A720-D65AC39DE068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>
            <a:extLst>
              <a:ext uri="{FF2B5EF4-FFF2-40B4-BE49-F238E27FC236}">
                <a16:creationId xmlns:a16="http://schemas.microsoft.com/office/drawing/2014/main" id="{0D1EA58E-57A5-40D0-B8A3-50E022C78589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>
            <a:extLst>
              <a:ext uri="{FF2B5EF4-FFF2-40B4-BE49-F238E27FC236}">
                <a16:creationId xmlns:a16="http://schemas.microsoft.com/office/drawing/2014/main" id="{DB2E6071-81E1-414B-B646-422E2AE84B7C}"/>
              </a:ext>
            </a:extLst>
          </p:cNvPr>
          <p:cNvSpPr>
            <a:spLocks noGrp="1"/>
          </p:cNvSpPr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>
            <a:extLst>
              <a:ext uri="{FF2B5EF4-FFF2-40B4-BE49-F238E27FC236}">
                <a16:creationId xmlns:a16="http://schemas.microsoft.com/office/drawing/2014/main" id="{BFCF2B26-C9DC-49AD-A783-EEDDB1AE1F70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>
            <a:extLst>
              <a:ext uri="{FF2B5EF4-FFF2-40B4-BE49-F238E27FC236}">
                <a16:creationId xmlns:a16="http://schemas.microsoft.com/office/drawing/2014/main" id="{D3630676-63F5-4573-90A9-79083D649D6D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AE6CDCA-9C28-4737-B54F-59A0ACD42595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7696200" cy="257175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defPPr>
              <a:defRPr sz="1575" i="0">
                <a:solidFill>
                  <a:srgbClr val="30205F"/>
                </a:solidFill>
              </a:defRPr>
            </a:defPPr>
            <a:lvl1pPr>
              <a:buNone/>
              <a:defRPr sz="1575" i="0">
                <a:solidFill>
                  <a:srgbClr val="30205F"/>
                </a:solidFill>
              </a:defRPr>
            </a:lvl1pPr>
            <a:lvl2pPr>
              <a:buNone/>
              <a:defRPr sz="1575" i="0">
                <a:solidFill>
                  <a:srgbClr val="30205F"/>
                </a:solidFill>
              </a:defRPr>
            </a:lvl2pPr>
            <a:lvl3pPr>
              <a:buNone/>
              <a:defRPr sz="1575" i="0">
                <a:solidFill>
                  <a:srgbClr val="30205F"/>
                </a:solidFill>
              </a:defRPr>
            </a:lvl3pPr>
            <a:lvl4pPr>
              <a:buNone/>
              <a:defRPr sz="1575" i="0">
                <a:solidFill>
                  <a:srgbClr val="30205F"/>
                </a:solidFill>
              </a:defRPr>
            </a:lvl4pPr>
            <a:lvl5pPr>
              <a:buNone/>
              <a:defRPr sz="1575" i="0">
                <a:solidFill>
                  <a:srgbClr val="30205F"/>
                </a:solidFill>
              </a:defRPr>
            </a:lvl5pPr>
            <a:lvl6pPr>
              <a:buNone/>
              <a:defRPr sz="1575" i="0">
                <a:solidFill>
                  <a:srgbClr val="30205F"/>
                </a:solidFill>
              </a:defRPr>
            </a:lvl6pPr>
            <a:lvl7pPr>
              <a:buNone/>
              <a:defRPr sz="1575" i="0">
                <a:solidFill>
                  <a:srgbClr val="30205F"/>
                </a:solidFill>
              </a:defRPr>
            </a:lvl7pPr>
            <a:lvl8pPr>
              <a:buNone/>
              <a:defRPr sz="1575" i="0">
                <a:solidFill>
                  <a:srgbClr val="30205F"/>
                </a:solidFill>
              </a:defRPr>
            </a:lvl8pPr>
            <a:lvl9pPr>
              <a:buNone/>
              <a:defRPr sz="1575" i="0">
                <a:solidFill>
                  <a:srgbClr val="30205F"/>
                </a:solidFill>
              </a:defRPr>
            </a:lvl9pPr>
          </a:lstStyle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Limits and next experiments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Current study: small instances, ideal simulator and 18 held-out synthetic episodes per policy. No quantum candidate improved the classical incumbent.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Compare against a random trigger with matched call counts and stronger compute-matched baselines. Test larger instances and noisy circuits.</a:t>
            </a:r>
            <a:endParaRPr sz="1200"/>
          </a:p>
          <a:p>
            <a:pPr marL="0" indent="0">
              <a:buNone/>
            </a:pPr>
            <a:endParaRPr sz="1200"/>
          </a:p>
          <a:p>
            <a:pPr marL="0" indent="0">
              <a:buNone/>
              <a:defRPr sz="1725" i="0">
                <a:solidFill>
                  <a:srgbClr val="30205F"/>
                </a:solidFill>
              </a:defRPr>
            </a:pPr>
            <a:r>
              <a:rPr sz="1575" i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Validate farm dynamics with real data. Improve mobile overflow and add server-enforced quotas before broader public use.</a:t>
            </a:r>
            <a:endParaRPr sz="12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A67CB50-8251-4215-BD9F-8565488ABFE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900">
                <a:solidFill>
                  <a:srgbClr val="2E1B5B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1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88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A400BB-D1C2-41B9-9243-70F9BAE50172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 spc="300">
                <a:solidFill>
                  <a:srgbClr val="E8639F"/>
                </a:solidFill>
                <a:latin typeface="Calibri"/>
                <a:ea typeface="Calibri"/>
                <a:cs typeface="Calibri"/>
              </a:rPr>
              <a:t>CLOSING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210126-5841-4537-A537-0DA63CE1989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4200" b="1">
                <a:solidFill>
                  <a:srgbClr val="2E1B5B"/>
                </a:solidFill>
                <a:latin typeface="Georgia"/>
                <a:ea typeface="Georgia"/>
                <a:cs typeface="Georgia"/>
              </a:rPr>
              <a:t>Thank You</a:t>
            </a:r>
            <a:endParaRPr sz="4200"/>
          </a:p>
          <a:p>
            <a:pPr marL="0" indent="0">
              <a:buNone/>
            </a:pPr>
            <a:r>
              <a:rPr sz="4200" b="1">
                <a:solidFill>
                  <a:srgbClr val="E8639F"/>
                </a:solidFill>
                <a:latin typeface="Georgia"/>
                <a:ea typeface="Georgia"/>
                <a:cs typeface="Georgia"/>
              </a:rPr>
              <a:t>Questions?</a:t>
            </a:r>
            <a:endParaRPr sz="4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060D43-FC2D-4FB6-BB18-C50CB51F6D20}"/>
              </a:ext>
            </a:extLst>
          </p:cNvPr>
          <p:cNvSpPr>
            <a:spLocks noGrp="1"/>
          </p:cNvSpPr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i="1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Live demo: jalq-r-605775397403.asia-south1.run.app</a:t>
            </a:r>
            <a:endParaRPr sz="1300"/>
          </a:p>
        </p:txBody>
      </p:sp>
      <p:sp>
        <p:nvSpPr>
          <p:cNvPr id="5" name="Field: GITHUB REPOSITORY">
            <a:extLst>
              <a:ext uri="{FF2B5EF4-FFF2-40B4-BE49-F238E27FC236}">
                <a16:creationId xmlns:a16="http://schemas.microsoft.com/office/drawing/2014/main" id="{EA5A5D65-C4B0-4717-AA2C-4894853E7B3D}"/>
              </a:ext>
            </a:extLst>
          </p:cNvPr>
          <p:cNvSpPr>
            <a:spLocks noGrp="1"/>
          </p:cNvSpPr>
          <p:nvPr/>
        </p:nvSpPr>
        <p:spPr>
          <a:xfrm>
            <a:off x="457200" y="3291840"/>
            <a:ext cx="2286000" cy="6667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975">
                <a:solidFill>
                  <a:srgbClr val="30205F"/>
                </a:solidFill>
              </a:defRPr>
            </a:defPPr>
            <a:lvl1pPr>
              <a:buNone/>
              <a:defRPr sz="975">
                <a:solidFill>
                  <a:srgbClr val="30205F"/>
                </a:solidFill>
              </a:defRPr>
            </a:lvl1pPr>
            <a:lvl2pPr>
              <a:buNone/>
              <a:defRPr sz="975">
                <a:solidFill>
                  <a:srgbClr val="30205F"/>
                </a:solidFill>
              </a:defRPr>
            </a:lvl2pPr>
            <a:lvl3pPr>
              <a:buNone/>
              <a:defRPr sz="975">
                <a:solidFill>
                  <a:srgbClr val="30205F"/>
                </a:solidFill>
              </a:defRPr>
            </a:lvl3pPr>
            <a:lvl4pPr>
              <a:buNone/>
              <a:defRPr sz="975">
                <a:solidFill>
                  <a:srgbClr val="30205F"/>
                </a:solidFill>
              </a:defRPr>
            </a:lvl4pPr>
            <a:lvl5pPr>
              <a:buNone/>
              <a:defRPr sz="975">
                <a:solidFill>
                  <a:srgbClr val="30205F"/>
                </a:solidFill>
              </a:defRPr>
            </a:lvl5pPr>
            <a:lvl6pPr>
              <a:buNone/>
              <a:defRPr sz="975">
                <a:solidFill>
                  <a:srgbClr val="30205F"/>
                </a:solidFill>
              </a:defRPr>
            </a:lvl6pPr>
            <a:lvl7pPr>
              <a:buNone/>
              <a:defRPr sz="975">
                <a:solidFill>
                  <a:srgbClr val="30205F"/>
                </a:solidFill>
              </a:defRPr>
            </a:lvl7pPr>
            <a:lvl8pPr>
              <a:buNone/>
              <a:defRPr sz="975">
                <a:solidFill>
                  <a:srgbClr val="30205F"/>
                </a:solidFill>
              </a:defRPr>
            </a:lvl8pPr>
            <a:lvl9pPr>
              <a:buNone/>
              <a:defRPr sz="975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125">
                <a:solidFill>
                  <a:srgbClr val="30205F"/>
                </a:solidFill>
              </a:defRPr>
            </a:pPr>
            <a:r>
              <a:rPr sz="975" b="1" spc="10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GITHUB REPOSITORY</a:t>
            </a:r>
            <a:endParaRPr sz="900"/>
          </a:p>
          <a:p>
            <a:pPr marL="0" indent="0" algn="l">
              <a:buNone/>
              <a:defRPr sz="1125">
                <a:solidFill>
                  <a:srgbClr val="30205F"/>
                </a:solidFill>
              </a:defRPr>
            </a:pPr>
            <a:r>
              <a:rPr sz="975" i="1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vtu-qiskit-fall-fest-2026/</a:t>
            </a:r>
            <a:endParaRPr sz="900"/>
          </a:p>
          <a:p>
            <a:pPr marL="0" indent="0" algn="l">
              <a:buNone/>
              <a:defRPr sz="1125">
                <a:solidFill>
                  <a:srgbClr val="30205F"/>
                </a:solidFill>
              </a:defRPr>
            </a:pPr>
            <a:r>
              <a:rPr sz="975" i="1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vtu-hc-quantum-coderz</a:t>
            </a:r>
            <a:endParaRPr sz="900"/>
          </a:p>
        </p:txBody>
      </p:sp>
      <p:sp>
        <p:nvSpPr>
          <p:cNvPr id="6" name="Field: DEMO VIDEO LINK">
            <a:extLst>
              <a:ext uri="{FF2B5EF4-FFF2-40B4-BE49-F238E27FC236}">
                <a16:creationId xmlns:a16="http://schemas.microsoft.com/office/drawing/2014/main" id="{F4DC131B-75A1-422F-BC47-6D66D1B25BFB}"/>
              </a:ext>
            </a:extLst>
          </p:cNvPr>
          <p:cNvSpPr>
            <a:spLocks noGrp="1"/>
          </p:cNvSpPr>
          <p:nvPr/>
        </p:nvSpPr>
        <p:spPr>
          <a:xfrm>
            <a:off x="2834639" y="3291840"/>
            <a:ext cx="291195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anchor="t"/>
          <a:lstStyle>
            <a:defPPr>
              <a:defRPr sz="1200">
                <a:solidFill>
                  <a:srgbClr val="30205F"/>
                </a:solidFill>
              </a:defRPr>
            </a:defPPr>
            <a:lvl1pPr>
              <a:buNone/>
              <a:defRPr sz="1200">
                <a:solidFill>
                  <a:srgbClr val="30205F"/>
                </a:solidFill>
              </a:defRPr>
            </a:lvl1pPr>
            <a:lvl2pPr>
              <a:buNone/>
              <a:defRPr sz="1200">
                <a:solidFill>
                  <a:srgbClr val="30205F"/>
                </a:solidFill>
              </a:defRPr>
            </a:lvl2pPr>
            <a:lvl3pPr>
              <a:buNone/>
              <a:defRPr sz="1200">
                <a:solidFill>
                  <a:srgbClr val="30205F"/>
                </a:solidFill>
              </a:defRPr>
            </a:lvl3pPr>
            <a:lvl4pPr>
              <a:buNone/>
              <a:defRPr sz="1200">
                <a:solidFill>
                  <a:srgbClr val="30205F"/>
                </a:solidFill>
              </a:defRPr>
            </a:lvl4pPr>
            <a:lvl5pPr>
              <a:buNone/>
              <a:defRPr sz="1200">
                <a:solidFill>
                  <a:srgbClr val="30205F"/>
                </a:solidFill>
              </a:defRPr>
            </a:lvl5pPr>
            <a:lvl6pPr>
              <a:buNone/>
              <a:defRPr sz="1200">
                <a:solidFill>
                  <a:srgbClr val="30205F"/>
                </a:solidFill>
              </a:defRPr>
            </a:lvl6pPr>
            <a:lvl7pPr>
              <a:buNone/>
              <a:defRPr sz="1200">
                <a:solidFill>
                  <a:srgbClr val="30205F"/>
                </a:solidFill>
              </a:defRPr>
            </a:lvl7pPr>
            <a:lvl8pPr>
              <a:buNone/>
              <a:defRPr sz="1200">
                <a:solidFill>
                  <a:srgbClr val="30205F"/>
                </a:solidFill>
              </a:defRPr>
            </a:lvl8pPr>
            <a:lvl9pPr>
              <a:buNone/>
              <a:defRPr sz="1200">
                <a:solidFill>
                  <a:srgbClr val="30205F"/>
                </a:solidFill>
              </a:defRPr>
            </a:lvl9pPr>
          </a:lstStyle>
          <a:p>
            <a:pPr marL="0" indent="0" algn="l">
              <a:buNone/>
              <a:defRPr sz="1200">
                <a:solidFill>
                  <a:srgbClr val="30205F"/>
                </a:solidFill>
              </a:defRPr>
            </a:pPr>
            <a:r>
              <a:rPr sz="1200" b="1" spc="100" dirty="0">
                <a:solidFill>
                  <a:srgbClr val="30205F"/>
                </a:solidFill>
                <a:latin typeface="Calibri"/>
                <a:ea typeface="Calibri"/>
                <a:cs typeface="Calibri"/>
              </a:rPr>
              <a:t>DEMO VIDEO LINK</a:t>
            </a:r>
            <a:endParaRPr sz="900" dirty="0"/>
          </a:p>
          <a:p>
            <a:pPr>
              <a:defRPr sz="1200">
                <a:solidFill>
                  <a:srgbClr val="30205F"/>
                </a:solidFill>
              </a:defRPr>
            </a:pPr>
            <a:r>
              <a:rPr lang="en-IN" sz="900" dirty="0"/>
              <a:t>https://youtu.be/ayLlw7HNc8Q?si=2fWt--5TC_noOpMQ</a:t>
            </a:r>
            <a:endParaRPr sz="900" dirty="0"/>
          </a:p>
        </p:txBody>
      </p:sp>
      <p:pic>
        <p:nvPicPr>
          <p:cNvPr id="7" name="Bloch sphere ring">
            <a:extLst>
              <a:ext uri="{FF2B5EF4-FFF2-40B4-BE49-F238E27FC236}">
                <a16:creationId xmlns:a16="http://schemas.microsoft.com/office/drawing/2014/main" id="{7B82E81B-9689-4289-ACA3-A8217889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>
            <a:extLst>
              <a:ext uri="{FF2B5EF4-FFF2-40B4-BE49-F238E27FC236}">
                <a16:creationId xmlns:a16="http://schemas.microsoft.com/office/drawing/2014/main" id="{3A8F6E70-8F7D-48E7-90E9-AEA94CE02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>
            <a:extLst>
              <a:ext uri="{FF2B5EF4-FFF2-40B4-BE49-F238E27FC236}">
                <a16:creationId xmlns:a16="http://schemas.microsoft.com/office/drawing/2014/main" id="{CB9734CF-03C2-4EC1-ABD1-4560525E9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>
            <a:extLst>
              <a:ext uri="{FF2B5EF4-FFF2-40B4-BE49-F238E27FC236}">
                <a16:creationId xmlns:a16="http://schemas.microsoft.com/office/drawing/2014/main" id="{1B7BEBBB-C8F8-4DB0-BB40-9B28074A6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08082"/>
      </p:ext>
    </p:extLst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iskit Fall Fes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iskit Fall Fes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1398</Words>
  <Application>Microsoft Office PowerPoint</Application>
  <DocSecurity>0</DocSecurity>
  <PresentationFormat>On-screen Show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Hybrid Solution &amp; Quantum Resource Efficiency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Shylan Kamesh S s</cp:lastModifiedBy>
  <cp:revision>2</cp:revision>
  <dcterms:created xsi:type="dcterms:W3CDTF">2026-10-23T07:07:41Z</dcterms:created>
  <dcterms:modified xsi:type="dcterms:W3CDTF">2026-10-23T09:21:18Z</dcterms:modified>
</cp:coreProperties>
</file>